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AI-Assisted Pharmacy Medication Dispensing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Adaptive Compliance Engine (ADCE) for Medication Safety, FEFO Control, and Regulatory Auditing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Manual Dispensing vs Proposed ADCE System:</a:t>
            </a:r>
          </a:p>
          <a:p>
            <a:pPr lvl="1"/>
            <a:r>
              <a:t>- Human Error Risk -&gt; Active Safety Gate (Real-time rule validation)</a:t>
            </a:r>
          </a:p>
          <a:p>
            <a:pPr lvl="1"/>
            <a:r>
              <a:t>- Silent Safety Violations -&gt; Instant Safety Block (Rejects expired/recalled stock)</a:t>
            </a:r>
          </a:p>
          <a:p>
            <a:pPr lvl="1"/>
            <a:r>
              <a:t>- FEFO Bypasses -&gt; Backend FEFO Engine (Auto-selects earliest-expiring batch)</a:t>
            </a:r>
          </a:p>
          <a:p>
            <a:pPr lvl="1"/>
            <a:r>
              <a:t>- Paper-Based Tracing -&gt; Instant Patient Tracing (Rapid contact tracing)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Architecture:</a:t>
            </a:r>
          </a:p>
          <a:p>
            <a:pPr lvl="1"/>
            <a:r>
              <a:t>Client Layer (Frontend)</a:t>
            </a:r>
          </a:p>
          <a:p>
            <a:pPr lvl="2"/>
            <a:r>
              <a:t>React 19, TypeScript 6, Vite 8, Material-UI v9, TanStack Query 5</a:t>
            </a:r>
          </a:p>
          <a:p>
            <a:pPr lvl="1"/>
            <a:r>
              <a:t>Service Layer (Backend)</a:t>
            </a:r>
          </a:p>
          <a:p>
            <a:pPr lvl="2"/>
            <a:r>
              <a:t>Spring Boot 3.2 (Java 17), Spring Security, ADCE Safety Engine</a:t>
            </a:r>
          </a:p>
          <a:p>
            <a:pPr lvl="1"/>
            <a:r>
              <a:t>Data Persistence &amp; Compliance</a:t>
            </a:r>
          </a:p>
          <a:p>
            <a:pPr lvl="2"/>
            <a:r>
              <a:t>Spring Data JPA, MySQL/H2 RDBMS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ER Model &amp;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Entities &amp; Relationships:</a:t>
            </a:r>
          </a:p>
          <a:p>
            <a:pPr lvl="1"/>
            <a:r>
              <a:t>Supplier (1) --- (*) Medicine</a:t>
            </a:r>
          </a:p>
          <a:p>
            <a:pPr lvl="1"/>
            <a:r>
              <a:t>Medicine (1) --- (1) Inventory</a:t>
            </a:r>
          </a:p>
          <a:p>
            <a:pPr lvl="1"/>
            <a:r>
              <a:t>Inventory (1) --- (*) MedicineBatch</a:t>
            </a:r>
          </a:p>
          <a:p>
            <a:pPr lvl="1"/>
            <a:r>
              <a:t>MedicineBatch (1) --- (*) DispensationRecord</a:t>
            </a:r>
          </a:p>
          <a:p>
            <a:pPr lvl="1"/>
            <a:r>
              <a:t>AuditEvent: Independent log recording event type, user, timestamp, 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ADCE Safety Engine (7 Business 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dispense attempt passes through 7 real-time rules:</a:t>
            </a:r>
          </a:p>
          <a:p>
            <a:pPr lvl="1"/>
            <a:r>
              <a:t>1. Quantity strictly positive</a:t>
            </a:r>
          </a:p>
          <a:p>
            <a:pPr lvl="1"/>
            <a:r>
              <a:t>2. Rejection of RECALLED stock</a:t>
            </a:r>
          </a:p>
          <a:p>
            <a:pPr lvl="1"/>
            <a:r>
              <a:t>3. Rejection of QUARANTINED stock</a:t>
            </a:r>
          </a:p>
          <a:p>
            <a:pPr lvl="1"/>
            <a:r>
              <a:t>4. Rejection of non-ACTIVE status</a:t>
            </a:r>
          </a:p>
          <a:p>
            <a:pPr lvl="1"/>
            <a:r>
              <a:t>5. Rejection of expired stock</a:t>
            </a:r>
          </a:p>
          <a:p>
            <a:pPr lvl="1"/>
            <a:r>
              <a:t>6. Quantity stock availability check</a:t>
            </a:r>
          </a:p>
          <a:p>
            <a:pPr lvl="1"/>
            <a:r>
              <a:t>7. Prescription enforcement (if required)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FEFO Logic &amp; Manual Override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FEFO Mode:</a:t>
            </a:r>
          </a:p>
          <a:p>
            <a:pPr lvl="1"/>
            <a:r>
              <a:t>Backend auto-selects earliest-expiring active batch with sufficient stock</a:t>
            </a:r>
          </a:p>
          <a:p>
            <a:pPr lvl="1"/>
            <a:r>
              <a:t>Frontend explicitly refrains from client-side prediction</a:t>
            </a:r>
          </a:p>
          <a:p>
            <a:pPr/>
            <a:r>
              <a:t>Manual Batch Override Mode:</a:t>
            </a:r>
          </a:p>
          <a:p>
            <a:pPr lvl="1"/>
            <a:r>
              <a:t>Pharmacist explicitly selects a specific batch</a:t>
            </a:r>
          </a:p>
          <a:p>
            <a:pPr lvl="1"/>
            <a:r>
              <a:t>overrideReason becomes mandatory</a:t>
            </a:r>
          </a:p>
          <a:p>
            <a:pPr lvl="1"/>
            <a:r>
              <a:t>System logs a FEFO_OVERRIDE audit event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Recall &amp; Patient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 for critical safety recalls:</a:t>
            </a:r>
          </a:p>
          <a:p>
            <a:pPr lvl="1"/>
            <a:r>
              <a:t>1. Initiate Recall: Admin calls API endpoint for specific batch</a:t>
            </a:r>
          </a:p>
          <a:p>
            <a:pPr lvl="1"/>
            <a:r>
              <a:t>2. Stock Adjustment: Status becomes RECALLED; remaining stock deducted</a:t>
            </a:r>
          </a:p>
          <a:p>
            <a:pPr lvl="1"/>
            <a:r>
              <a:t>3. Audit &amp; Alert: Global CRITICAL severity notification; RECALL_INITIATED audit event</a:t>
            </a:r>
          </a:p>
          <a:p>
            <a:pPr lvl="1"/>
            <a:r>
              <a:t>4. Patient Contact Tracing: Admin retrieves distinct list of affected patients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 &amp; Single-Flight JWT Interceptor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Dual-Layer Security Implementation:</a:t>
            </a:r>
          </a:p>
          <a:p>
            <a:pPr lvl="1"/>
            <a:r>
              <a:t>In-Memory Token Security: Access tokens held in JS memory (prevents XSS)</a:t>
            </a:r>
          </a:p>
          <a:p>
            <a:pPr lvl="1"/>
            <a:r>
              <a:t>Stateless Authorization: Spring Security @PreAuthorize role guards</a:t>
            </a:r>
          </a:p>
          <a:p>
            <a:pPr/>
            <a:r>
              <a:t>Single-Flight 401 Interceptor:</a:t>
            </a:r>
          </a:p>
          <a:p>
            <a:pPr lvl="1"/>
            <a:r>
              <a:t>Intercepts 401 Unauthorized errors</a:t>
            </a:r>
          </a:p>
          <a:p>
            <a:pPr lvl="1"/>
            <a:r>
              <a:t>Fires exactly 1 /auth/refresh request, queues parallel requests</a:t>
            </a:r>
          </a:p>
          <a:p>
            <a:pPr lvl="1"/>
            <a:r>
              <a:t>Updates tokens and retries all queued requests seamlessly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Reporting, Analytics &amp; File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Operations Analytics:</a:t>
            </a:r>
          </a:p>
          <a:p>
            <a:pPr lvl="1"/>
            <a:r>
              <a:t>Dispensing Summary &amp; Inventory Dashboard KPIs</a:t>
            </a:r>
          </a:p>
          <a:p>
            <a:pPr/>
            <a:r>
              <a:t>Role-Aware Security:</a:t>
            </a:r>
          </a:p>
          <a:p>
            <a:pPr lvl="1"/>
            <a:r>
              <a:t>Restricted to ADMIN and AUDITOR roles</a:t>
            </a:r>
          </a:p>
          <a:p>
            <a:pPr/>
            <a:r>
              <a:t>Native File Exports:</a:t>
            </a:r>
          </a:p>
          <a:p>
            <a:pPr lvl="1"/>
            <a:r>
              <a:t>Export dispensing history to Excel (.xlsx) and PDF (.pdf)</a:t>
            </a:r>
          </a:p>
          <a:p>
            <a:pPr lvl="1"/>
            <a:r>
              <a:t>Exported as raw binary blobs via ephemeral download links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Verification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43-Point System Hardening Matrix Passed:</a:t>
            </a:r>
          </a:p>
          <a:p>
            <a:pPr lvl="1"/>
            <a:r>
              <a:t>Phase H1: End-to-End Operational Workflow (11/11 Passed)</a:t>
            </a:r>
          </a:p>
          <a:p>
            <a:pPr lvl="1"/>
            <a:r>
              <a:t>Phase H2: Role-Based Access Control &amp; Security (15/15 Passed)</a:t>
            </a:r>
          </a:p>
          <a:p>
            <a:pPr lvl="1"/>
            <a:r>
              <a:t>Phase H3: ADCE Safety Rules &amp; JWT Refresh Resilience (10/10 Passed)</a:t>
            </a:r>
          </a:p>
          <a:p>
            <a:pPr lvl="1"/>
            <a:r>
              <a:t>Phase H4: Production Readiness &amp; Build Quality (7/7 Passed)</a:t>
            </a:r>
          </a:p>
          <a:p>
            <a:pPr lvl="1"/>
            <a:r>
              <a:t>28/28 Backend Integration Tests Passed</a:t>
            </a:r>
          </a:p>
          <a:p>
            <a:pPr lvl="1"/>
            <a:r>
              <a:t>0 Frontend Compilation/Build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7-Step Live Demonstration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Walkthrough:</a:t>
            </a:r>
          </a:p>
          <a:p>
            <a:pPr lvl="1"/>
            <a:r>
              <a:t>1. Admin Login &amp; Dashboard Overview</a:t>
            </a:r>
          </a:p>
          <a:p>
            <a:pPr lvl="1"/>
            <a:r>
              <a:t>2. Catalog Setup (Supplier &amp; Medicine)</a:t>
            </a:r>
          </a:p>
          <a:p>
            <a:pPr lvl="1"/>
            <a:r>
              <a:t>3. Stock Intake (Batches with different expiries)</a:t>
            </a:r>
          </a:p>
          <a:p>
            <a:pPr lvl="1"/>
            <a:r>
              <a:t>4. FEFO Dispensing &amp; Rx Rule Enforcement</a:t>
            </a:r>
          </a:p>
          <a:p>
            <a:pPr lvl="1"/>
            <a:r>
              <a:t>5. FEFO Manual Override (with audit event logging)</a:t>
            </a:r>
          </a:p>
          <a:p>
            <a:pPr lvl="1"/>
            <a:r>
              <a:t>6. Batch Recall &amp; Affected Patient Tracing</a:t>
            </a:r>
          </a:p>
          <a:p>
            <a:pPr lvl="1"/>
            <a:r>
              <a:t>7. Reporting &amp; Audit Export (Excel)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Active Safety Gate replaces passive inventory logs</a:t>
            </a:r>
          </a:p>
          <a:p>
            <a:pPr lvl="1"/>
            <a:r>
              <a:t>FEFO Automation reduces inventory waste</a:t>
            </a:r>
          </a:p>
          <a:p>
            <a:pPr lvl="1"/>
            <a:r>
              <a:t>Immutable audit logs ensure full traceability and regulatory compliance</a:t>
            </a:r>
          </a:p>
          <a:p>
            <a:pPr lvl="1"/>
            <a:r>
              <a:t>Production-grade, secure architecture verified through rigorous E2E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